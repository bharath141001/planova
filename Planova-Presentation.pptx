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73152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01168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9184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57200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73152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201168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329184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457200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73152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0" y="201168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0" y="329184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457200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73152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0" y="201168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329184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0" y="457200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0" y="73152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49840" y="201168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9840" y="329184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49840" y="457200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0" y="73152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0" y="201168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329184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0" y="4572000"/>
            <a:ext cx="54864" cy="54864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731520"/>
            <a:ext cx="4114800" cy="0"/>
          </a:xfrm>
          <a:prstGeom prst="line">
            <a:avLst/>
          </a:prstGeom>
          <a:noFill/>
          <a:ln w="635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2011680"/>
            <a:ext cx="4114800" cy="0"/>
          </a:xfrm>
          <a:prstGeom prst="line">
            <a:avLst/>
          </a:prstGeom>
          <a:noFill/>
          <a:ln w="6350">
            <a:solidFill>
              <a:srgbClr val="26A8A5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3291840"/>
            <a:ext cx="4114800" cy="0"/>
          </a:xfrm>
          <a:prstGeom prst="line">
            <a:avLst/>
          </a:prstGeom>
          <a:noFill/>
          <a:ln w="635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137160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1325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PLANOVA</a:t>
            </a:r>
            <a:endParaRPr lang="en-US" sz="6400" dirty="0"/>
          </a:p>
        </p:txBody>
      </p:sp>
      <p:sp>
        <p:nvSpPr>
          <p:cNvPr id="31" name="Text 29"/>
          <p:cNvSpPr/>
          <p:nvPr/>
        </p:nvSpPr>
        <p:spPr>
          <a:xfrm>
            <a:off x="77724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better. Ship faster.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77240" y="2926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full-stack, production-ready project management platform 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boards, Scrum sprints, real-time collaboration, and deep reporting.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" y="397764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4005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18 + TypeScript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990088" y="397764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63240" y="4005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+ Express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202936" y="397764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76088" y="4005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+ Prisma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15784" y="397764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88936" y="4005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Socket.IO Real-time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628632" y="397764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01784" y="40050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+ Cloud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bharath.r@sharepointdesigns.com  ·  Planova v1.0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32004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struggle with existing tools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 like Jira are powerful but expensive and locked behind vendor walls. Lightweight alternatives lack depth as teams grow. There is no middle ground — until now.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35040" y="1828800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1C1F3A"/>
          </a:solidFill>
          <a:ln w="12700">
            <a:solidFill>
              <a:srgbClr val="E05C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0" y="188366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Prohibitive Costs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217627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charges $7–17/user/month. A 20-person team pays up to $4,000/year before any add-ons.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2852928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1C1F3A"/>
          </a:solidFill>
          <a:ln w="12700">
            <a:solidFill>
              <a:srgbClr val="E05C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9077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Vendor Lock-in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3200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APIs and non-portable data prevent customization and true ownership of your workflow.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3877056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1C1F3A"/>
          </a:solidFill>
          <a:ln w="12700">
            <a:solidFill>
              <a:srgbClr val="E05C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39319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Complexity Without Control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72200" y="422452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Bloated with unused features, yet missing specific capabilities teams actually need.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4901184"/>
            <a:ext cx="5577840" cy="896112"/>
          </a:xfrm>
          <a:prstGeom prst="roundRect">
            <a:avLst>
              <a:gd name="adj" fmla="val 8163"/>
            </a:avLst>
          </a:prstGeom>
          <a:solidFill>
            <a:srgbClr val="1C1F3A"/>
          </a:solidFill>
          <a:ln w="12700">
            <a:solidFill>
              <a:srgbClr val="E05C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495604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No Real-time Collaboration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524865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require manual refresh — critical friction for distributed teams across time zones.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32004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software team needs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470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Kanban 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76272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with LexoRank ordering, WIP limits, swimlanes, and live Socket.IO updates.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62272" y="173736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8470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Scrum &amp; Sprints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2176272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sprint lifecycle — plan, start, complete. Auto velocity, carry-over, sprint goals.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375904" y="173736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13064" y="18470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Rich Issue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13064" y="2176272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types, 5 priorities, subtasks, 5 link types, TipTap editor, @mentions, full audit trail.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101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Roadmap &amp; Epics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639312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Gantt-style epic timeline with month/quarter/year zoom and live progress overlays.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62272" y="32004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33101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Reports &amp; Analytics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9432" y="3639312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Burndown, velocity, sprint summary, cumulative flow, and workload charts via Recharts.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75904" y="32004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13064" y="33101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Real-time Notifs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13064" y="3639312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notifications, @mention emails, daily digests, live typing — no page refresh.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7731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Granular Permissions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102352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global × 4 project roles. Permission matrix enforced on both frontend and backend.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62272" y="46634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47731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Custom Fields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99432" y="5102352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Project-specific metadata — Text, Number, Date, Select, Multi-Select, User types.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75904" y="46634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13064" y="47731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Command Palette + DX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13064" y="5102352"/>
            <a:ext cx="3474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⌘K palette, keyboard shortcuts, dark/light mode, skeleton loaders, optimistic UI.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32004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 teams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385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9568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 Teams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2860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Scrum sprints — plan, assign story points, burndown in real time, carry over incomplete work. Audit trail for compliance.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46520" y="182880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9385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23760" y="195681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22860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swimlanes track design reviews by assignee or epic. Custom fields capture brand guidelines, screen sizes, and approval status.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4472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25880" y="34655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/ Remote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794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means teammates across time zones see changes instantly. Mention notifications keep everyone in sync without meetings.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333756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34472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23760" y="34655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3794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shows epic timelines across quarters. Velocity and workload charts balance the team and forecast delivery for stakeholders.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9560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325880" y="49743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&amp; SMEs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5303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free on Neon, Upstash, Google Cloud, and Vercel — $0 infrastructure. Own your data, customise your workflow, scale when ready.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484632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49560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23760" y="497433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/ Learning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53035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JWT auth, RBAC, WebSocket real-time, cloud deployment, and a full Prisma schema — a complete technical showcase.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32004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with modern patterns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LAYER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319272" cy="621792"/>
          </a:xfrm>
          <a:prstGeom prst="roundRect">
            <a:avLst>
              <a:gd name="adj" fmla="val 8824"/>
            </a:avLst>
          </a:prstGeom>
          <a:solidFill>
            <a:srgbClr val="1C1F3A"/>
          </a:solidFill>
          <a:ln w="15240">
            <a:solidFill>
              <a:srgbClr val="26A8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3319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SPA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77640" y="1920240"/>
            <a:ext cx="3319272" cy="621792"/>
          </a:xfrm>
          <a:prstGeom prst="roundRect">
            <a:avLst>
              <a:gd name="adj" fmla="val 8824"/>
            </a:avLst>
          </a:prstGeom>
          <a:solidFill>
            <a:srgbClr val="1C1F3A"/>
          </a:solidFill>
          <a:ln w="15240">
            <a:solidFill>
              <a:srgbClr val="26A8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920240"/>
            <a:ext cx="3319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6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/ Nginx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↕  REST / WebSocket / Prisma 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8072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LAYER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319272" cy="621792"/>
          </a:xfrm>
          <a:prstGeom prst="roundRect">
            <a:avLst>
              <a:gd name="adj" fmla="val 8824"/>
            </a:avLst>
          </a:prstGeom>
          <a:solidFill>
            <a:srgbClr val="1C1F3A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71800"/>
            <a:ext cx="3319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77640" y="2971800"/>
            <a:ext cx="3319272" cy="621792"/>
          </a:xfrm>
          <a:prstGeom prst="roundRect">
            <a:avLst>
              <a:gd name="adj" fmla="val 8824"/>
            </a:avLst>
          </a:prstGeom>
          <a:solidFill>
            <a:srgbClr val="1C1F3A"/>
          </a:solidFill>
          <a:ln w="1524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971800"/>
            <a:ext cx="3319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Server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↕  REST / WebSocket / Prisma ORM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858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LAYER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1261872" cy="621792"/>
          </a:xfrm>
          <a:prstGeom prst="roundRect">
            <a:avLst>
              <a:gd name="adj" fmla="val 8824"/>
            </a:avLst>
          </a:prstGeom>
          <a:solidFill>
            <a:srgbClr val="1C1F3A"/>
          </a:solidFill>
          <a:ln w="15240">
            <a:solidFill>
              <a:srgbClr val="8890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23360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4023360"/>
            <a:ext cx="1261872" cy="621792"/>
          </a:xfrm>
          <a:prstGeom prst="roundRect">
            <a:avLst>
              <a:gd name="adj" fmla="val 8824"/>
            </a:avLst>
          </a:prstGeom>
          <a:solidFill>
            <a:srgbClr val="1C1F3A"/>
          </a:solidFill>
          <a:ln w="15240">
            <a:solidFill>
              <a:srgbClr val="8890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4023360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4023360"/>
            <a:ext cx="1261872" cy="621792"/>
          </a:xfrm>
          <a:prstGeom prst="roundRect">
            <a:avLst>
              <a:gd name="adj" fmla="val 8824"/>
            </a:avLst>
          </a:prstGeom>
          <a:solidFill>
            <a:srgbClr val="1C1F3A"/>
          </a:solidFill>
          <a:ln w="15240">
            <a:solidFill>
              <a:srgbClr val="8890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4023360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4023360"/>
            <a:ext cx="1261872" cy="621792"/>
          </a:xfrm>
          <a:prstGeom prst="roundRect">
            <a:avLst>
              <a:gd name="adj" fmla="val 8824"/>
            </a:avLst>
          </a:prstGeom>
          <a:solidFill>
            <a:srgbClr val="1C1F3A"/>
          </a:solidFill>
          <a:ln w="15240">
            <a:solidFill>
              <a:srgbClr val="8890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023360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4023360"/>
            <a:ext cx="1261872" cy="621792"/>
          </a:xfrm>
          <a:prstGeom prst="roundRect">
            <a:avLst>
              <a:gd name="adj" fmla="val 8824"/>
            </a:avLst>
          </a:prstGeom>
          <a:solidFill>
            <a:srgbClr val="1C1F3A"/>
          </a:solidFill>
          <a:ln w="15240">
            <a:solidFill>
              <a:srgbClr val="8890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4023360"/>
            <a:ext cx="1261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6817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↕  REST / WebSocket / Prisma 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9103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LAYER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2176272" cy="621792"/>
          </a:xfrm>
          <a:prstGeom prst="roundRect">
            <a:avLst>
              <a:gd name="adj" fmla="val 8824"/>
            </a:avLst>
          </a:prstGeom>
          <a:solidFill>
            <a:srgbClr val="1C1F3A"/>
          </a:solidFill>
          <a:ln w="15240">
            <a:solidFill>
              <a:srgbClr val="E05C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074920"/>
            <a:ext cx="2176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5074920"/>
            <a:ext cx="2176272" cy="621792"/>
          </a:xfrm>
          <a:prstGeom prst="roundRect">
            <a:avLst>
              <a:gd name="adj" fmla="val 8824"/>
            </a:avLst>
          </a:prstGeom>
          <a:solidFill>
            <a:srgbClr val="1C1F3A"/>
          </a:solidFill>
          <a:ln w="15240">
            <a:solidFill>
              <a:srgbClr val="E05C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0" y="5074920"/>
            <a:ext cx="2176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5074920"/>
            <a:ext cx="2176272" cy="621792"/>
          </a:xfrm>
          <a:prstGeom prst="roundRect">
            <a:avLst>
              <a:gd name="adj" fmla="val 8824"/>
            </a:avLst>
          </a:prstGeom>
          <a:solidFill>
            <a:srgbClr val="1C1F3A"/>
          </a:solidFill>
          <a:ln w="15240">
            <a:solidFill>
              <a:srgbClr val="E05C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5074920"/>
            <a:ext cx="21762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80960" y="182880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19385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Notes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818120" y="2395728"/>
            <a:ext cx="91440" cy="91440"/>
          </a:xfrm>
          <a:prstGeom prst="ellipse">
            <a:avLst/>
          </a:prstGeom>
          <a:solidFill>
            <a:srgbClr val="26A8A5"/>
          </a:solidFill>
          <a:ln w="12700">
            <a:solidFill>
              <a:srgbClr val="26A8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73568" y="23591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73568" y="261518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SPA: Zustand for UI state, TanStack Query for server state. Nginx serves production build.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18120" y="338328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73568" y="33467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973568" y="360273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handles REST. Socket.IO runs alongside HTTP on the same port for bidirectional events.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818120" y="4370832"/>
            <a:ext cx="91440" cy="91440"/>
          </a:xfrm>
          <a:prstGeom prst="ellipse">
            <a:avLst/>
          </a:prstGeom>
          <a:solidFill>
            <a:srgbClr val="8890B8"/>
          </a:solidFill>
          <a:ln w="12700">
            <a:solidFill>
              <a:srgbClr val="8890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73568" y="43342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973568" y="45902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business logic — auth, issues, sprints, reports, email, notifications — separated from controllers.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818120" y="5358384"/>
            <a:ext cx="91440" cy="91440"/>
          </a:xfrm>
          <a:prstGeom prst="ellipse">
            <a:avLst/>
          </a:prstGeom>
          <a:solidFill>
            <a:srgbClr val="E05C6A"/>
          </a:solidFill>
          <a:ln w="12700">
            <a:solidFill>
              <a:srgbClr val="E05C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73568" y="53218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973568" y="5577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Prisma ORM. Redis for caching + rate limits. S3 for files with local disk fallback.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32004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correctness, not hype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45720" cy="2148840"/>
          </a:xfrm>
          <a:prstGeom prst="rect">
            <a:avLst/>
          </a:prstGeom>
          <a:solidFill>
            <a:srgbClr val="26A8A5"/>
          </a:solidFill>
          <a:ln w="12700">
            <a:solidFill>
              <a:srgbClr val="26A8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74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240280"/>
            <a:ext cx="53035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EE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18   •   TypeScript 5.5   •   Vite 5   •   Zustand   •   TanStack Query   •   React Router 6   •   React Hook Form   •   TipTap Editor   •   Recharts   •   Socket.IO Client   •   SCSS Modules   •   Zod   •   date-fns   •   Vitest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46520" y="178308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783080"/>
            <a:ext cx="45720" cy="21488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1874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1112" y="2240280"/>
            <a:ext cx="53035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EE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22   •   Express.js 4.19   •   TypeScript 5.5   •   Prisma ORM 5.16   •   Socket.IO 4.7   •   JWT + bcryptjs   •   ioredis   •   AWS S3 SDK   •   Nodemailer   •   Winston   •   Zod + express-validator   •   Helmet + CORS   •   Rate Limiter   •   Multer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14800"/>
            <a:ext cx="45720" cy="2148840"/>
          </a:xfrm>
          <a:prstGeom prst="rect">
            <a:avLst/>
          </a:prstGeom>
          <a:solidFill>
            <a:srgbClr val="E05C6A"/>
          </a:solidFill>
          <a:ln w="12700">
            <a:solidFill>
              <a:srgbClr val="E05C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206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Infra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4572000"/>
            <a:ext cx="53035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EE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16   •   Redis 7   •   22 Prisma Models   •   14 Enum Types   •   LexoRank Ordering   •   Atomic Counters   •   Cascade Rules   •   Strategic Indexes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6520" y="411480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4114800"/>
            <a:ext cx="45720" cy="2148840"/>
          </a:xfrm>
          <a:prstGeom prst="rect">
            <a:avLst/>
          </a:prstGeom>
          <a:solidFill>
            <a:srgbClr val="8890B8"/>
          </a:solidFill>
          <a:ln w="12700">
            <a:solidFill>
              <a:srgbClr val="8890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4206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1112" y="4572000"/>
            <a:ext cx="53035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950" dirty="0">
                <a:solidFill>
                  <a:srgbClr val="EE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  •   Docker Compose   •   Nginx 1.27   •   Multi-stage Builds   •   Google Cloud VM   •   Vercel   •   Neon PostgreSQL   •   Upstash Redis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32004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models · 14 enums · fully relational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20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212848"/>
            <a:ext cx="256032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86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uuid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25054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String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2724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GlobalRole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avatarUrl: String?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1920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84448" y="2212848"/>
            <a:ext cx="256032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2286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String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84448" y="25054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SCRUM|KANBAN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84448" y="2724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issueCounter: Int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84448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visibility: Enum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18288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920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10528" y="2212848"/>
            <a:ext cx="256032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2286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issueKey: String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10528" y="25054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IssueType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10528" y="2724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priority: Priority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10528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rank: String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10528" y="31638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storyPoints: Int?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326880" y="18288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36608" y="1920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436608" y="2212848"/>
            <a:ext cx="256032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36608" y="2286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SprintStatus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36608" y="25054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velocity: Int?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36608" y="27249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String?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36608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startDate: DateTime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34290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3520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" y="3813048"/>
            <a:ext cx="256032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886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EpicStatus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8368" y="4105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startDate: DateTime?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8368" y="4325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endDate: DateTime?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74720" y="34290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84448" y="3520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IssueLink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584448" y="3813048"/>
            <a:ext cx="256032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84448" y="3886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LinkType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84448" y="4105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Issue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584448" y="4325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Issue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0" y="34290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3520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10528" y="3813048"/>
            <a:ext cx="256032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3886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 Json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10528" y="4105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parent: Comment?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10528" y="4325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reactions: Reaction[]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326880" y="34290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36608" y="3520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436608" y="3813048"/>
            <a:ext cx="256032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36608" y="38862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ActionType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436608" y="41056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field: String?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436608" y="4325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oldValue: String?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436608" y="45445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newValue: String?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50292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" y="5120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CustomField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58368" y="5413248"/>
            <a:ext cx="256032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8368" y="54864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fieldType: FieldType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58368" y="57058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options: Json?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58368" y="5925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values: CFValue[]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474720" y="50292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84448" y="5120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584448" y="5413248"/>
            <a:ext cx="256032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84448" y="54864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NotifType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584448" y="57058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read: Boolean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584448" y="5925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actor: User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584448" y="6144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issue: Issue?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400800" y="50292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10528" y="5120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Attachment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510528" y="5413248"/>
            <a:ext cx="256032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10528" y="54864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String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510528" y="57058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size: Int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510528" y="5925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mimeType: String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510528" y="61447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storage: S3|LOCAL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326880" y="502920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436608" y="51206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Worklog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436608" y="5413248"/>
            <a:ext cx="256032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436608" y="54864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timeSpent: Int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9436608" y="57058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String?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9436608" y="5925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loggedAt: DateTime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32004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COLLABORATION &amp;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without compromise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Real-time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1C1F3A"/>
          </a:solidFill>
          <a:ln w="12700">
            <a:solidFill>
              <a:srgbClr val="26A8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30428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Client connects with JWT — middleware authenticates before any room join.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1C1F3A"/>
          </a:solidFill>
          <a:ln w="12700">
            <a:solidFill>
              <a:srgbClr val="26A8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312724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Client emits join:project — server adds socket to project room.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1C1F3A"/>
          </a:solidFill>
          <a:ln w="12700">
            <a:solidFill>
              <a:srgbClr val="26A8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395020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Issue updated → server broadcasts to project:{id} room instantly.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1C1F3A"/>
          </a:solidFill>
          <a:ln w="12700">
            <a:solidFill>
              <a:srgbClr val="26A8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477316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Mention triggers user:{userId} room event — targeted, not broadcast.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5486400"/>
            <a:ext cx="5486400" cy="694944"/>
          </a:xfrm>
          <a:prstGeom prst="roundRect">
            <a:avLst>
              <a:gd name="adj" fmla="val 10526"/>
            </a:avLst>
          </a:prstGeom>
          <a:solidFill>
            <a:srgbClr val="1C1F3A"/>
          </a:solidFill>
          <a:ln w="12700">
            <a:solidFill>
              <a:srgbClr val="26A8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559612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TanStack Query cache updated optimistically — no refetch needed.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Permission Model (RBAC)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2194560"/>
            <a:ext cx="5577840" cy="694944"/>
          </a:xfrm>
          <a:prstGeom prst="roundRect">
            <a:avLst>
              <a:gd name="adj" fmla="val 10526"/>
            </a:avLst>
          </a:prstGeom>
          <a:solidFill>
            <a:srgbClr val="1C1F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30428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JWT Access Tokens — 15 min TTL. Short window limits exposure on token theft.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3017520"/>
            <a:ext cx="5577840" cy="694944"/>
          </a:xfrm>
          <a:prstGeom prst="roundRect">
            <a:avLst>
              <a:gd name="adj" fmla="val 10526"/>
            </a:avLst>
          </a:prstGeom>
          <a:solidFill>
            <a:srgbClr val="1C1F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312724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Rotating Refresh Tokens — 7-day httpOnly cookie. Old token invalidated on each refresh.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3840480"/>
            <a:ext cx="5577840" cy="694944"/>
          </a:xfrm>
          <a:prstGeom prst="roundRect">
            <a:avLst>
              <a:gd name="adj" fmla="val 10526"/>
            </a:avLst>
          </a:prstGeom>
          <a:solidFill>
            <a:srgbClr val="1C1F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395020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4 Global Roles + 4 Project Roles — OWNER, ADMIN, MEMBER, VIEWER per project.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4663440"/>
            <a:ext cx="5577840" cy="694944"/>
          </a:xfrm>
          <a:prstGeom prst="roundRect">
            <a:avLst>
              <a:gd name="adj" fmla="val 10526"/>
            </a:avLst>
          </a:prstGeom>
          <a:solidFill>
            <a:srgbClr val="1C1F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477316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&lt;PermissionGate&gt; hides UI. permissionMiddleware enforces on API — UI is cosmetic.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5486400"/>
            <a:ext cx="5577840" cy="694944"/>
          </a:xfrm>
          <a:prstGeom prst="roundRect">
            <a:avLst>
              <a:gd name="adj" fmla="val 10526"/>
            </a:avLst>
          </a:prstGeom>
          <a:solidFill>
            <a:srgbClr val="1C1F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47104" y="559612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Helmet, CORS, rate limiter on auth endpoints. Bcrypt cost factor 12.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32004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at $0 / month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788920" cy="2743200"/>
          </a:xfrm>
          <a:prstGeom prst="roundRect">
            <a:avLst>
              <a:gd name="adj" fmla="val 266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084832"/>
            <a:ext cx="1261872" cy="256032"/>
          </a:xfrm>
          <a:prstGeom prst="roundRect">
            <a:avLst>
              <a:gd name="adj" fmla="val 14286"/>
            </a:avLst>
          </a:prstGeom>
          <a:solidFill>
            <a:srgbClr val="152E2E"/>
          </a:solidFill>
          <a:ln w="10160">
            <a:solidFill>
              <a:srgbClr val="26A8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08483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forever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24140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3127248"/>
            <a:ext cx="251460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serverless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GB storage, auto-suspend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Prisma connection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315468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93008" y="2011680"/>
            <a:ext cx="2788920" cy="2743200"/>
          </a:xfrm>
          <a:prstGeom prst="roundRect">
            <a:avLst>
              <a:gd name="adj" fmla="val 266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2084832"/>
            <a:ext cx="1261872" cy="256032"/>
          </a:xfrm>
          <a:prstGeom prst="roundRect">
            <a:avLst>
              <a:gd name="adj" fmla="val 14286"/>
            </a:avLst>
          </a:prstGeom>
          <a:solidFill>
            <a:srgbClr val="152E2E"/>
          </a:solidFill>
          <a:ln w="10160">
            <a:solidFill>
              <a:srgbClr val="26A8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08483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forever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30168" y="24140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30168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30168" y="3127248"/>
            <a:ext cx="251460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3200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commands/day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HTTP-based Redis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rate-limit cache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27648" y="315468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37376" y="2011680"/>
            <a:ext cx="2788920" cy="2743200"/>
          </a:xfrm>
          <a:prstGeom prst="roundRect">
            <a:avLst>
              <a:gd name="adj" fmla="val 266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08976" y="2084832"/>
            <a:ext cx="1261872" cy="256032"/>
          </a:xfrm>
          <a:prstGeom prst="roundRect">
            <a:avLst>
              <a:gd name="adj" fmla="val 14286"/>
            </a:avLst>
          </a:prstGeom>
          <a:solidFill>
            <a:srgbClr val="152E2E"/>
          </a:solidFill>
          <a:ln w="10160">
            <a:solidFill>
              <a:srgbClr val="26A8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08976" y="208483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free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74536" y="24140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74536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74536" y="3127248"/>
            <a:ext cx="251460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3200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e2-micro VM — us-central1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containerized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run on startup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72016" y="315468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381744" y="2011680"/>
            <a:ext cx="2788920" cy="2743200"/>
          </a:xfrm>
          <a:prstGeom prst="roundRect">
            <a:avLst>
              <a:gd name="adj" fmla="val 2667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53344" y="2084832"/>
            <a:ext cx="1261872" cy="256032"/>
          </a:xfrm>
          <a:prstGeom prst="roundRect">
            <a:avLst>
              <a:gd name="adj" fmla="val 14286"/>
            </a:avLst>
          </a:prstGeom>
          <a:solidFill>
            <a:srgbClr val="152E2E"/>
          </a:solidFill>
          <a:ln w="10160">
            <a:solidFill>
              <a:srgbClr val="26A8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53344" y="208483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tier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518904" y="24140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18904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518904" y="3127248"/>
            <a:ext cx="2514600" cy="0"/>
          </a:xfrm>
          <a:prstGeom prst="line">
            <a:avLst/>
          </a:prstGeom>
          <a:noFill/>
          <a:ln w="6350">
            <a:solidFill>
              <a:srgbClr val="8890B8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18904" y="3200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on git push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env injection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GB bandwidth/month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983480"/>
            <a:ext cx="11612880" cy="822960"/>
          </a:xfrm>
          <a:prstGeom prst="roundRect">
            <a:avLst>
              <a:gd name="adj" fmla="val 8889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1023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Local Dev: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03120" y="5102352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 —  PostgreSQL + Redis + Backend + Nginx frontend in one command. Prisma migrations auto-run on start. Optional seed with 50+ demo issues.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32004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Planova worth building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9339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225296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301752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 deployment on Neon, Upstash, Google Cloud free tier, and Vercel — no bill to validate the product.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462272" y="182880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99339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138928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6864" y="26974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Data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26864" y="301752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schema with 22 entities and 14 enums covers every project management concept — issues, sprints, epics, worklogs, custom fields.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375904" y="182880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0496" y="199339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&lt;15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308592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0496" y="26974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UI Updates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40496" y="301752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drag-and-drop and inline edits update the UI before the server responds — perceived latency near zero.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23367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173736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typed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4937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End-to-End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" y="525780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on both client and server. Prisma generates type-safe query builders. Zod validates at all runtime boundaries.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62272" y="406908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423367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4×4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39496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26864" y="4937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Permissions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26864" y="525780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global × 4 project roles. Permission matrix defined once in shared code and enforced on both frontend and backend.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75904" y="406908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1C1F3A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0496" y="423367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8796528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40496" y="49377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Reporting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0496" y="5257800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Burndown, velocity, sprint summary, cumulative flow, and workload charts — data to improve sprints, not just track status.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32004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REQUIREMENTS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takes to run Planova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86400" cy="0"/>
          </a:xfrm>
          <a:prstGeom prst="line">
            <a:avLst/>
          </a:prstGeom>
          <a:noFill/>
          <a:ln w="6350">
            <a:solidFill>
              <a:srgbClr val="8890B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40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Lifecycle —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21408" y="22402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transition, link, clone, bulk-edit across 6 types and 5 priorities.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8254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25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Management —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21408" y="282549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start, complete sprints with velocity tracking and carry-over logic.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10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4107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—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21408" y="341071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see board/issue changes within milliseconds via WebSocket.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9959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9959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Enforcement —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21408" y="39959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destructive action gated by project-level role on the API.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581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5811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Attachments —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21408" y="458114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 stored in S3 or local disk with presigned URL access.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166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1663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—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51663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change persisted in Activity table for compliance.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5751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7515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—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21408" y="5751576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@mention emails and daily digest via Nodemailer with configurable SMTP.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18288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Non-Functional Requirements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2148840"/>
            <a:ext cx="5669280" cy="0"/>
          </a:xfrm>
          <a:prstGeom prst="line">
            <a:avLst/>
          </a:prstGeom>
          <a:noFill/>
          <a:ln w="6350">
            <a:solidFill>
              <a:srgbClr val="8890B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240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22402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73568" y="2240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UI, DB indexes, Redis caching, and HTTP compression target sub-200ms API responses.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8254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28254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73568" y="282549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rotating tokens, bcrypt passwords, Helmet headers, CORS, Zod + express-validator input checks.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34107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34107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— 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73568" y="341071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Express API, Redis for shared state, Docker containerization enables horizontal scaling.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39959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39959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— 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973568" y="39959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runs without Redis, S3, or SMTP. Health endpoints for k8s probes.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45811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0" y="45811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— 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73568" y="458114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separation, TypeScript, Prisma migrations, Winston structured logging, centralized error handler.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09360" y="5166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83680" y="51663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— 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73568" y="51663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navigation, visible focus, ARIA labels, responsive design for mobile/tablet.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9360" y="5751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83680" y="57515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— 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973568" y="575157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for local dev; env-variable config enables any cloud provider without code changes.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5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C1F3A"/>
          </a:solidFill>
          <a:ln w="12700">
            <a:solidFill>
              <a:srgbClr val="1C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100" kern="0" dirty="0">
                <a:solidFill>
                  <a:srgbClr val="EE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PLANOVA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tool.  An honest architecture.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Planova proves that a small team with the right stack can build production-grade project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software — no vendor, no lock-in, no compromises on security or real-time capability.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858768"/>
            <a:ext cx="2176272" cy="347472"/>
          </a:xfrm>
          <a:prstGeom prst="roundRect">
            <a:avLst>
              <a:gd name="adj" fmla="val 10526"/>
            </a:avLst>
          </a:prstGeom>
          <a:solidFill>
            <a:srgbClr val="252849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85876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18 + TypeScript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3858768"/>
            <a:ext cx="2176272" cy="347472"/>
          </a:xfrm>
          <a:prstGeom prst="roundRect">
            <a:avLst>
              <a:gd name="adj" fmla="val 10526"/>
            </a:avLst>
          </a:prstGeom>
          <a:solidFill>
            <a:srgbClr val="252849"/>
          </a:solidFill>
          <a:ln w="12700">
            <a:solidFill>
              <a:srgbClr val="26A8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385876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Express.js + Prisma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74920" y="3858768"/>
            <a:ext cx="2176272" cy="347472"/>
          </a:xfrm>
          <a:prstGeom prst="roundRect">
            <a:avLst>
              <a:gd name="adj" fmla="val 10526"/>
            </a:avLst>
          </a:prstGeom>
          <a:solidFill>
            <a:srgbClr val="252849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385876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Socket.IO Real-time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60920" y="3858768"/>
            <a:ext cx="2176272" cy="347472"/>
          </a:xfrm>
          <a:prstGeom prst="roundRect">
            <a:avLst>
              <a:gd name="adj" fmla="val 10526"/>
            </a:avLst>
          </a:prstGeom>
          <a:solidFill>
            <a:srgbClr val="252849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385876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+ Redis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46920" y="3858768"/>
            <a:ext cx="2176272" cy="347472"/>
          </a:xfrm>
          <a:prstGeom prst="roundRect">
            <a:avLst>
              <a:gd name="adj" fmla="val 10526"/>
            </a:avLst>
          </a:prstGeom>
          <a:solidFill>
            <a:srgbClr val="252849"/>
          </a:solidFill>
          <a:ln w="12700">
            <a:solidFill>
              <a:srgbClr val="26A8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6920" y="385876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RBAC Auth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4334256"/>
            <a:ext cx="2176272" cy="347472"/>
          </a:xfrm>
          <a:prstGeom prst="roundRect">
            <a:avLst>
              <a:gd name="adj" fmla="val 10526"/>
            </a:avLst>
          </a:prstGeom>
          <a:solidFill>
            <a:srgbClr val="252849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33425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+ Cloud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88920" y="4334256"/>
            <a:ext cx="2176272" cy="347472"/>
          </a:xfrm>
          <a:prstGeom prst="roundRect">
            <a:avLst>
              <a:gd name="adj" fmla="val 10526"/>
            </a:avLst>
          </a:prstGeom>
          <a:solidFill>
            <a:srgbClr val="252849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433425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22-model Schema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74920" y="4334256"/>
            <a:ext cx="2176272" cy="347472"/>
          </a:xfrm>
          <a:prstGeom prst="roundRect">
            <a:avLst>
              <a:gd name="adj" fmla="val 10526"/>
            </a:avLst>
          </a:prstGeom>
          <a:solidFill>
            <a:srgbClr val="252849"/>
          </a:solidFill>
          <a:ln w="12700">
            <a:solidFill>
              <a:srgbClr val="26A8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433425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A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 Infra Cost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60920" y="4334256"/>
            <a:ext cx="2176272" cy="347472"/>
          </a:xfrm>
          <a:prstGeom prst="roundRect">
            <a:avLst>
              <a:gd name="adj" fmla="val 10526"/>
            </a:avLst>
          </a:prstGeom>
          <a:solidFill>
            <a:srgbClr val="252849"/>
          </a:solidFill>
          <a:ln w="12700">
            <a:solidFill>
              <a:srgbClr val="2E31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433425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Audit Trail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46920" y="4334256"/>
            <a:ext cx="2176272" cy="347472"/>
          </a:xfrm>
          <a:prstGeom prst="roundRect">
            <a:avLst>
              <a:gd name="adj" fmla="val 10526"/>
            </a:avLst>
          </a:prstGeom>
          <a:solidFill>
            <a:srgbClr val="252849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433425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Optimistic UI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63093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bharath.r@sharepointdesigns.com  ·  Planova v1.0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2026-06-24T02:24:36Z</dcterms:created>
  <dcterms:modified xsi:type="dcterms:W3CDTF">2026-06-24T02:24:36Z</dcterms:modified>
</cp:coreProperties>
</file>